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6" r:id="rId12"/>
    <p:sldId id="9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22-09-2026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TIME: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(9:00)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952087"/>
              </p:ext>
            </p:extLst>
          </p:nvPr>
        </p:nvGraphicFramePr>
        <p:xfrm>
          <a:off x="8189089" y="4898509"/>
          <a:ext cx="3706232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6232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2420030001  -   DIKSHA YADAV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2420030332  -    K. BHAVANA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2420030430  -    G. TEJASHREE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2420030471  -     N. NIKITHA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23421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1398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50927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 PRATHYUSHA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22-09-2026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MovieLens Fusion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Movie Analytics Pipeline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04524" y="5169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6CFDC5-3E57-1688-EAC3-44C154286309}"/>
              </a:ext>
            </a:extLst>
          </p:cNvPr>
          <p:cNvSpPr txBox="1"/>
          <p:nvPr/>
        </p:nvSpPr>
        <p:spPr>
          <a:xfrm>
            <a:off x="451262" y="1163287"/>
            <a:ext cx="1098467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Movie datasets contain information from multiple sources such as </a:t>
            </a:r>
            <a:r>
              <a:rPr lang="en-IN" b="1" dirty="0"/>
              <a:t>movie details, user ratings, genres, tags and external movie identifiers</a:t>
            </a:r>
            <a:r>
              <a:rPr lang="en-IN" dirty="0"/>
              <a:t>. However, these data sources may have different schemas, formats, missing values, duplicate records and inconsistent identifiers.</a:t>
            </a:r>
          </a:p>
          <a:p>
            <a:pPr>
              <a:buNone/>
            </a:pPr>
            <a:r>
              <a:rPr lang="en-IN" dirty="0"/>
              <a:t>This makes it difficult to directly combine and analyze the data efficiently.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Therefore, there is a need for a structured data integration pipeline that can: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Clean and validate raw movie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Standardize different data formats and schemas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and remove duplicate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multiple movie-related sources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Store the unified dataset in a structured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Generate meaningful analytics and visualizations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Project Focus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“Transforming heterogeneous movie data into a clean, integrated and analysis-ready dataset.”</a:t>
            </a:r>
            <a:endParaRPr lang="en-IN" dirty="0"/>
          </a:p>
          <a:p>
            <a:pPr>
              <a:buNone/>
            </a:pPr>
            <a:r>
              <a:rPr lang="en-IN" b="1" dirty="0"/>
              <a:t>Visual:</a:t>
            </a:r>
            <a:br>
              <a:rPr lang="en-IN" dirty="0"/>
            </a:br>
            <a:r>
              <a:rPr lang="en-IN" dirty="0">
                <a:latin typeface="+mn-lt"/>
              </a:rPr>
              <a:t>Multiple Data Sources → Cleaning → Validation → Mapping → Deduplication → Integration → MySQL → Dashboard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859973" y="2226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69A231-223F-512C-0D81-DD007A9EC2A4}"/>
              </a:ext>
            </a:extLst>
          </p:cNvPr>
          <p:cNvSpPr txBox="1"/>
          <p:nvPr/>
        </p:nvSpPr>
        <p:spPr>
          <a:xfrm>
            <a:off x="650363" y="772162"/>
            <a:ext cx="9477484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b="1" dirty="0"/>
              <a:t>1. Data Collection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Obtain MovieLens movie, rating, genre and tag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Incorporate relevant external movie metadata where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500" dirty="0"/>
          </a:p>
          <a:p>
            <a:pPr>
              <a:buNone/>
            </a:pPr>
            <a:r>
              <a:rPr lang="en-IN" sz="1500" b="1" dirty="0"/>
              <a:t>2. Data Cleaning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Handle missing and inconsistent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Remove invalid or redundant records. </a:t>
            </a:r>
          </a:p>
          <a:p>
            <a:pPr>
              <a:buNone/>
            </a:pPr>
            <a:endParaRPr lang="en-IN" sz="1500" b="1" dirty="0"/>
          </a:p>
          <a:p>
            <a:pPr>
              <a:buNone/>
            </a:pPr>
            <a:r>
              <a:rPr lang="en-IN" sz="1500" b="1" dirty="0"/>
              <a:t>3. Schema Mapping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Map attributes from different sources into a common 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Standardize column names, formats and data types. </a:t>
            </a:r>
          </a:p>
          <a:p>
            <a:pPr>
              <a:buNone/>
            </a:pPr>
            <a:endParaRPr lang="en-IN" sz="1500" b="1" dirty="0"/>
          </a:p>
          <a:p>
            <a:pPr>
              <a:buNone/>
            </a:pPr>
            <a:r>
              <a:rPr lang="en-IN" sz="1500" b="1" dirty="0"/>
              <a:t>4. Data Deduplication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Identify duplicate movies and repeated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Maintain a consistent unique movie identity. </a:t>
            </a:r>
          </a:p>
          <a:p>
            <a:pPr>
              <a:buNone/>
            </a:pPr>
            <a:endParaRPr lang="en-IN" sz="1500" b="1" dirty="0"/>
          </a:p>
          <a:p>
            <a:pPr>
              <a:buNone/>
            </a:pPr>
            <a:r>
              <a:rPr lang="en-IN" sz="1500" b="1" dirty="0"/>
              <a:t>5. Data Integration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Combine cleaned datasets into a unified movie database. </a:t>
            </a:r>
          </a:p>
          <a:p>
            <a:pPr>
              <a:buNone/>
            </a:pPr>
            <a:endParaRPr lang="en-IN" sz="1500" b="1" dirty="0"/>
          </a:p>
          <a:p>
            <a:pPr>
              <a:buNone/>
            </a:pPr>
            <a:r>
              <a:rPr lang="en-IN" sz="1500" b="1" dirty="0"/>
              <a:t>6. Data Storage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Store the integrated data using </a:t>
            </a:r>
            <a:r>
              <a:rPr lang="en-IN" sz="1500" b="1" dirty="0"/>
              <a:t>MySQL</a:t>
            </a:r>
            <a:r>
              <a:rPr lang="en-IN" sz="1500" dirty="0"/>
              <a:t>. </a:t>
            </a:r>
          </a:p>
          <a:p>
            <a:pPr>
              <a:buNone/>
            </a:pPr>
            <a:endParaRPr lang="en-IN" sz="1500" b="1" dirty="0"/>
          </a:p>
          <a:p>
            <a:pPr>
              <a:buNone/>
            </a:pPr>
            <a:r>
              <a:rPr lang="en-IN" sz="1500" b="1" dirty="0"/>
              <a:t>7. Data Analysis &amp; Visualization</a:t>
            </a:r>
            <a:endParaRPr lang="en-IN" sz="1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Perform analytical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/>
              <a:t>Create meaningful visualizations using </a:t>
            </a:r>
            <a:r>
              <a:rPr lang="en-IN" sz="1500" b="1" dirty="0"/>
              <a:t>Matplotlib / </a:t>
            </a:r>
            <a:r>
              <a:rPr lang="en-IN" sz="1500" b="1" dirty="0" err="1"/>
              <a:t>Plotly</a:t>
            </a:r>
            <a:r>
              <a:rPr lang="en-IN" sz="1500" b="1" dirty="0"/>
              <a:t> / Power BI</a:t>
            </a:r>
            <a:r>
              <a:rPr lang="en-IN" sz="15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6" y="116949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136525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CC7DF-16AD-0118-BD62-CB3392FC6C4C}"/>
              </a:ext>
            </a:extLst>
          </p:cNvPr>
          <p:cNvSpPr txBox="1"/>
          <p:nvPr/>
        </p:nvSpPr>
        <p:spPr>
          <a:xfrm>
            <a:off x="8443356" y="39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E8199BE-95B3-D08B-9330-B50EE021A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619580"/>
              </p:ext>
            </p:extLst>
          </p:nvPr>
        </p:nvGraphicFramePr>
        <p:xfrm>
          <a:off x="225631" y="855023"/>
          <a:ext cx="11851575" cy="575675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370315">
                  <a:extLst>
                    <a:ext uri="{9D8B030D-6E8A-4147-A177-3AD203B41FA5}">
                      <a16:colId xmlns:a16="http://schemas.microsoft.com/office/drawing/2014/main" val="847139580"/>
                    </a:ext>
                  </a:extLst>
                </a:gridCol>
                <a:gridCol w="2370315">
                  <a:extLst>
                    <a:ext uri="{9D8B030D-6E8A-4147-A177-3AD203B41FA5}">
                      <a16:colId xmlns:a16="http://schemas.microsoft.com/office/drawing/2014/main" val="2574490690"/>
                    </a:ext>
                  </a:extLst>
                </a:gridCol>
                <a:gridCol w="2370315">
                  <a:extLst>
                    <a:ext uri="{9D8B030D-6E8A-4147-A177-3AD203B41FA5}">
                      <a16:colId xmlns:a16="http://schemas.microsoft.com/office/drawing/2014/main" val="1835406242"/>
                    </a:ext>
                  </a:extLst>
                </a:gridCol>
                <a:gridCol w="2370315">
                  <a:extLst>
                    <a:ext uri="{9D8B030D-6E8A-4147-A177-3AD203B41FA5}">
                      <a16:colId xmlns:a16="http://schemas.microsoft.com/office/drawing/2014/main" val="463638433"/>
                    </a:ext>
                  </a:extLst>
                </a:gridCol>
                <a:gridCol w="2370315">
                  <a:extLst>
                    <a:ext uri="{9D8B030D-6E8A-4147-A177-3AD203B41FA5}">
                      <a16:colId xmlns:a16="http://schemas.microsoft.com/office/drawing/2014/main" val="203562297"/>
                    </a:ext>
                  </a:extLst>
                </a:gridCol>
              </a:tblGrid>
              <a:tr h="222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Authors</a:t>
                      </a:r>
                    </a:p>
                  </a:txBody>
                  <a:tcPr marL="25152" marR="25152" marT="12576" marB="12576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Title of the Paper</a:t>
                      </a:r>
                    </a:p>
                  </a:txBody>
                  <a:tcPr marL="25152" marR="25152" marT="12576" marB="12576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Methodology</a:t>
                      </a:r>
                    </a:p>
                  </a:txBody>
                  <a:tcPr marL="25152" marR="25152" marT="12576" marB="12576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Inferences</a:t>
                      </a:r>
                    </a:p>
                  </a:txBody>
                  <a:tcPr marL="25152" marR="25152" marT="12576" marB="12576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Limitation / Future Work</a:t>
                      </a:r>
                    </a:p>
                  </a:txBody>
                  <a:tcPr marL="25152" marR="25152" marT="12576" marB="12576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977408"/>
                  </a:ext>
                </a:extLst>
              </a:tr>
              <a:tr h="150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Peralta [1]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Extraction and Integration of MovieLens and IMDb Data, Technical Report, 2007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Extracted MovieLens and IMDb data• Performed data cleaning and transformation• Matched movie titles across datasets• Constructed an integrated database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Demonstrates a complete MovieLens–IMDb integration process• Shows the importance of schema transformation and entity matching• Only 79% of movie-title matches were identical, requiring additional matching strategies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Title matching was challenging• Manual lookup was required for some records• Future work can improve automated entity matching and integration accuracy</a:t>
                      </a:r>
                    </a:p>
                  </a:txBody>
                  <a:tcPr marL="25152" marR="25152" marT="12576" marB="12576" anchor="ctr"/>
                </a:tc>
                <a:extLst>
                  <a:ext uri="{0D108BD9-81ED-4DB2-BD59-A6C34878D82A}">
                    <a16:rowId xmlns:a16="http://schemas.microsoft.com/office/drawing/2014/main" val="2555012040"/>
                  </a:ext>
                </a:extLst>
              </a:tr>
              <a:tr h="1238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Harper &amp; Konstan [2]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The MovieLens Datasets: History and Context, ACM TiiS, 2015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Examined MovieLens dataset development and characteristics• </a:t>
                      </a:r>
                      <a:r>
                        <a:rPr lang="en-IN" sz="1200" dirty="0" err="1"/>
                        <a:t>Analyzed</a:t>
                      </a:r>
                      <a:r>
                        <a:rPr lang="en-IN" sz="1200" dirty="0"/>
                        <a:t> dataset usage and limitations• Provided guidelines for using MovieLens in research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Establishes MovieLens as a widely used research dataset• Provides understanding of ratings, dataset structure and appropriate usage• Highlights limitations that researchers should consider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Focuses primarily on dataset history, characteristics and usage rather than building a complete data-integration pipeline• Further integration with heterogeneous external sources can be explored</a:t>
                      </a:r>
                    </a:p>
                  </a:txBody>
                  <a:tcPr marL="25152" marR="25152" marT="12576" marB="12576" anchor="ctr"/>
                </a:tc>
                <a:extLst>
                  <a:ext uri="{0D108BD9-81ED-4DB2-BD59-A6C34878D82A}">
                    <a16:rowId xmlns:a16="http://schemas.microsoft.com/office/drawing/2014/main" val="2546019937"/>
                  </a:ext>
                </a:extLst>
              </a:tr>
              <a:tr h="139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Pérez et al. [3]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Improving Movie Recommendation Systems Filtering by Exploiting User-Based Reviews and Movie Synopses, 2020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Used MovieLens rating data• Linked MovieLens identifiers with IMDb/TMDB content• Combined movie plots with ratings• Applied text preprocessing using NLTK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Demonstrates enrichment of MovieLens with external movie information• Shows the usefulness of linking multiple movie-data sources• Required preprocessing before combining the datasets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Primarily focuses on recommendation performance rather than data integration itself• External metadata can introduce missing or inconsistent records requiring additional validation</a:t>
                      </a:r>
                    </a:p>
                  </a:txBody>
                  <a:tcPr marL="25152" marR="25152" marT="12576" marB="12576" anchor="ctr"/>
                </a:tc>
                <a:extLst>
                  <a:ext uri="{0D108BD9-81ED-4DB2-BD59-A6C34878D82A}">
                    <a16:rowId xmlns:a16="http://schemas.microsoft.com/office/drawing/2014/main" val="3015083718"/>
                  </a:ext>
                </a:extLst>
              </a:tr>
              <a:tr h="139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Peralta [4]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Extraction and Integration of MovieLens and IMDb Data — Integrated Database Approach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• Defined source and target schemas• Extracted and transformed heterogeneous movie data• Applied movie-entity matching• Stored results in a relational database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Shows that MovieLens and IMDb can be transformed into a common schema• Demonstrates database construction after integration• Provides a direct precedent for a MovieLens data-integration pipeline</a:t>
                      </a:r>
                    </a:p>
                  </a:txBody>
                  <a:tcPr marL="25152" marR="25152" marT="12576" marB="12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Matching based heavily on movie titles creates ambiguity• More robust identifier-based and automated matching can improve integration</a:t>
                      </a:r>
                    </a:p>
                  </a:txBody>
                  <a:tcPr marL="25152" marR="25152" marT="12576" marB="12576" anchor="ctr"/>
                </a:tc>
                <a:extLst>
                  <a:ext uri="{0D108BD9-81ED-4DB2-BD59-A6C34878D82A}">
                    <a16:rowId xmlns:a16="http://schemas.microsoft.com/office/drawing/2014/main" val="12675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1844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A09B01-ADBF-B659-341A-89C992DA341E}"/>
              </a:ext>
            </a:extLst>
          </p:cNvPr>
          <p:cNvSpPr txBox="1"/>
          <p:nvPr/>
        </p:nvSpPr>
        <p:spPr>
          <a:xfrm>
            <a:off x="356260" y="1041247"/>
            <a:ext cx="116496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Existing MovieLens-based studies primarily focus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Recommendation algorithms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Collaborative filtering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User-item rating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Evaluation of recommender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Analysis of user preferences </a:t>
            </a:r>
          </a:p>
          <a:p>
            <a:pPr>
              <a:buNone/>
            </a:pPr>
            <a:r>
              <a:rPr lang="en-IN" sz="1600" dirty="0"/>
              <a:t>However, the data preparation and integration problem itself is often treated as a preprocessing step rather than the central objective.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Identified Gap</a:t>
            </a:r>
          </a:p>
          <a:p>
            <a:pPr>
              <a:buNone/>
            </a:pPr>
            <a:r>
              <a:rPr lang="en-IN" sz="1600" dirty="0"/>
              <a:t>There is a need for a systematic pipeline that focuses on:</a:t>
            </a:r>
          </a:p>
          <a:p>
            <a:pPr>
              <a:buNone/>
            </a:pPr>
            <a:r>
              <a:rPr lang="en-IN" sz="1600" b="1" dirty="0"/>
              <a:t>Heterogeneous Data → Standardization → Validation → Deduplication → Integration → Analysis</a:t>
            </a:r>
            <a:endParaRPr lang="en-IN" sz="1600" dirty="0"/>
          </a:p>
          <a:p>
            <a:pPr>
              <a:buNone/>
            </a:pPr>
            <a:r>
              <a:rPr lang="en-IN" sz="1600" b="1" dirty="0"/>
              <a:t>Our Project Addresses This Gap By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Treating data integration as the core problem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Combining movie-related datasets under a common schema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Applying systematic cleaning and 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Resolving duplicate movie identities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Creating a reusable integrated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Making the resulting dataset directly usable for analytics </a:t>
            </a:r>
          </a:p>
          <a:p>
            <a:pPr>
              <a:buNone/>
            </a:pPr>
            <a:r>
              <a:rPr lang="en-IN" sz="1600" dirty="0"/>
              <a:t>MovieLens itself provides multiple related datasets and identifiers, including links to external entities in some releases, which makes it suitable for demonstrating integration challenges.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4EF337-7ED6-5A3A-A6F6-A3FAB6ECD3B5}"/>
              </a:ext>
            </a:extLst>
          </p:cNvPr>
          <p:cNvSpPr txBox="1"/>
          <p:nvPr/>
        </p:nvSpPr>
        <p:spPr>
          <a:xfrm>
            <a:off x="855023" y="1489335"/>
            <a:ext cx="1090154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a </a:t>
            </a:r>
            <a:r>
              <a:rPr lang="en-IN" b="1" dirty="0"/>
              <a:t>structured multi-stage pipeline</a:t>
            </a:r>
            <a:r>
              <a:rPr lang="en-IN" dirty="0"/>
              <a:t> instead of performing isolated preprocessing.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Integrates multiple movie-related datasets into a common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Connects data engineering with analytical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Creativity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Movie-focused </a:t>
            </a:r>
            <a:r>
              <a:rPr lang="en-IN" b="1" dirty="0"/>
              <a:t>data fusion workflow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analytical dashboards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Clear before/after view of data quality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Visual representation of the transformation from raw → integrated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Novelty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The project emphasizes the complete journey of movie data rather than only the final analysis.</a:t>
            </a:r>
          </a:p>
          <a:p>
            <a:pPr>
              <a:buNone/>
            </a:pPr>
            <a:r>
              <a:rPr lang="en-IN" dirty="0"/>
              <a:t>Raw heterogeneous data → Quality improvement → Integration → Database → Analytics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731127" y="539483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57F06E-D96C-7F78-189D-C8F4401A1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741582"/>
              </p:ext>
            </p:extLst>
          </p:nvPr>
        </p:nvGraphicFramePr>
        <p:xfrm>
          <a:off x="838200" y="1496291"/>
          <a:ext cx="10515600" cy="4608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11552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27974392"/>
                    </a:ext>
                  </a:extLst>
                </a:gridCol>
              </a:tblGrid>
              <a:tr h="400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Feasibility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64114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MovieLens provides publicly available datasets suitable for research and education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240356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Python, Pandas, MySQL and visualization tools are sufficient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144105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Computational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Pipeline can be developed and tested using standard computing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636662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Modular stages allow individual components to be developed and tested separately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8002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Pipeline can be extended to larger MovieLens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646602"/>
                  </a:ext>
                </a:extLst>
              </a:tr>
              <a:tr h="70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freely available datasets and open-source development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828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8DB0-6B7B-428D-E0CB-4422EDA6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492A5-FBA5-E7FB-796A-96B2D353E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E4F610-5791-8C85-CDA5-1C217C486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48" y="748144"/>
            <a:ext cx="10340934" cy="584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4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0FED0B-23C4-B68D-E727-420AC3F51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91" y="0"/>
            <a:ext cx="10837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1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E603-A6DE-B5F4-49F6-DAE82B07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43" y="2766218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775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1059</Words>
  <Application>Microsoft Office PowerPoint</Application>
  <PresentationFormat>Widescreen</PresentationFormat>
  <Paragraphs>168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TEJASHREE GANDLA</cp:lastModifiedBy>
  <cp:revision>41</cp:revision>
  <dcterms:created xsi:type="dcterms:W3CDTF">2026-08-08T06:33:56Z</dcterms:created>
  <dcterms:modified xsi:type="dcterms:W3CDTF">2026-09-22T04:42:05Z</dcterms:modified>
</cp:coreProperties>
</file>